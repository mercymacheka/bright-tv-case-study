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931"/>
                </a:solidFill>
                <a:latin typeface="Arial"/>
              </a:rPr>
              <a:t>Sessions by Age Group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93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Adults</c:v>
                </c:pt>
                <c:pt idx="1">
                  <c:v>Young Adults</c:v>
                </c:pt>
                <c:pt idx="2">
                  <c:v>Middle Aged</c:v>
                </c:pt>
                <c:pt idx="3">
                  <c:v>Minors</c:v>
                </c:pt>
                <c:pt idx="4">
                  <c:v>Seniors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4455</c:v>
                </c:pt>
                <c:pt idx="1">
                  <c:v>3866</c:v>
                </c:pt>
                <c:pt idx="2">
                  <c:v>917</c:v>
                </c:pt>
                <c:pt idx="3">
                  <c:v>417</c:v>
                </c:pt>
                <c:pt idx="4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03-48B4-8FFC-E8CDD5CCEB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931"/>
                </a:solidFill>
                <a:latin typeface="Arial"/>
              </a:rPr>
              <a:t>Subscriber Age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B02-4037-BBD0-CA8EEC05BD20}"/>
              </c:ext>
            </c:extLst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B02-4037-BBD0-CA8EEC05BD20}"/>
              </c:ext>
            </c:extLst>
          </c:dPt>
          <c:dPt>
            <c:idx val="2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B02-4037-BBD0-CA8EEC05BD20}"/>
              </c:ext>
            </c:extLst>
          </c:dPt>
          <c:dPt>
            <c:idx val="3"/>
            <c:bubble3D val="0"/>
            <c:spPr>
              <a:solidFill>
                <a:srgbClr val="48CA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B02-4037-BBD0-CA8EEC05BD20}"/>
              </c:ext>
            </c:extLst>
          </c:dPt>
          <c:dPt>
            <c:idx val="4"/>
            <c:bubble3D val="0"/>
            <c:spPr>
              <a:solidFill>
                <a:srgbClr val="90E0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B02-4037-BBD0-CA8EEC05BD20}"/>
              </c:ext>
            </c:extLst>
          </c:dPt>
          <c:dPt>
            <c:idx val="5"/>
            <c:bubble3D val="0"/>
            <c:spPr>
              <a:solidFill>
                <a:srgbClr val="ADE8F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B02-4037-BBD0-CA8EEC05BD20}"/>
              </c:ext>
            </c:extLst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B02-4037-BBD0-CA8EEC05BD2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B02-4037-BBD0-CA8EEC05BD2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B02-4037-BBD0-CA8EEC05BD2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B02-4037-BBD0-CA8EEC05BD2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B02-4037-BBD0-CA8EEC05BD2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B02-4037-BBD0-CA8EEC05BD2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B02-4037-BBD0-CA8EEC05BD20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B02-4037-BBD0-CA8EEC05BD2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55–64</c:v>
                </c:pt>
                <c:pt idx="5">
                  <c:v>65+</c:v>
                </c:pt>
                <c:pt idx="6">
                  <c:v>&lt;18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638</c:v>
                </c:pt>
                <c:pt idx="1">
                  <c:v>1894</c:v>
                </c:pt>
                <c:pt idx="2">
                  <c:v>1215</c:v>
                </c:pt>
                <c:pt idx="3">
                  <c:v>454</c:v>
                </c:pt>
                <c:pt idx="4">
                  <c:v>99</c:v>
                </c:pt>
                <c:pt idx="5">
                  <c:v>31</c:v>
                </c:pt>
                <c:pt idx="6">
                  <c:v>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B02-4037-BBD0-CA8EEC05BD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931"/>
                </a:solidFill>
                <a:latin typeface="Arial"/>
              </a:rPr>
              <a:t>Subscriber Gender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80C-4DDA-916F-E90F4956E9CF}"/>
              </c:ext>
            </c:extLst>
          </c:dPt>
          <c:dPt>
            <c:idx val="1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0C-4DDA-916F-E90F4956E9CF}"/>
              </c:ext>
            </c:extLst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0C-4DDA-916F-E90F4956E9C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80C-4DDA-916F-E90F4956E9C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80C-4DDA-916F-E90F4956E9C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80C-4DDA-916F-E90F4956E9C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 (83.8%)</c:v>
                </c:pt>
                <c:pt idx="1">
                  <c:v>Female (11.5%)</c:v>
                </c:pt>
                <c:pt idx="2">
                  <c:v>Unknown (4.7%)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3918</c:v>
                </c:pt>
                <c:pt idx="1">
                  <c:v>537</c:v>
                </c:pt>
                <c:pt idx="2">
                  <c:v>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0C-4DDA-916F-E90F4956E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931"/>
                </a:solidFill>
                <a:latin typeface="Arial"/>
              </a:rPr>
              <a:t>Subscribers by Province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93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KZN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1704</c:v>
                </c:pt>
                <c:pt idx="1">
                  <c:v>791</c:v>
                </c:pt>
                <c:pt idx="2">
                  <c:v>481</c:v>
                </c:pt>
                <c:pt idx="3">
                  <c:v>421</c:v>
                </c:pt>
                <c:pt idx="4">
                  <c:v>368</c:v>
                </c:pt>
                <c:pt idx="5">
                  <c:v>287</c:v>
                </c:pt>
                <c:pt idx="6">
                  <c:v>161</c:v>
                </c:pt>
                <c:pt idx="7">
                  <c:v>156</c:v>
                </c:pt>
                <c:pt idx="8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22-4482-AECE-BB260F2D61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931"/>
                </a:solidFill>
                <a:latin typeface="Arial"/>
              </a:rPr>
              <a:t>Sessions 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3E8-4EE7-AD4E-B2B60BEBC89D}"/>
              </c:ext>
            </c:extLst>
          </c:dPt>
          <c:dPt>
            <c:idx val="1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3E8-4EE7-AD4E-B2B60BEBC89D}"/>
              </c:ext>
            </c:extLst>
          </c:dPt>
          <c:dPt>
            <c:idx val="2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3E8-4EE7-AD4E-B2B60BEBC89D}"/>
              </c:ext>
            </c:extLst>
          </c:dPt>
          <c:dPt>
            <c:idx val="3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3E8-4EE7-AD4E-B2B60BEBC89D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3E8-4EE7-AD4E-B2B60BEBC89D}"/>
              </c:ext>
            </c:extLst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3E8-4EE7-AD4E-B2B60BEBC89D}"/>
              </c:ext>
            </c:extLst>
          </c:dPt>
          <c:dPt>
            <c:idx val="6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3E8-4EE7-AD4E-B2B60BEBC89D}"/>
              </c:ext>
            </c:extLst>
          </c:dPt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1553</c:v>
                </c:pt>
                <c:pt idx="3">
                  <c:v>1441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3E8-4EE7-AD4E-B2B60BEBC8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931"/>
                </a:solidFill>
                <a:latin typeface="Arial"/>
              </a:rPr>
              <a:t>Sessions by Time of Day (SAST)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6F5-4388-8111-89744CD05928}"/>
              </c:ext>
            </c:extLst>
          </c:dPt>
          <c:dPt>
            <c:idx val="1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F5-4388-8111-89744CD05928}"/>
              </c:ext>
            </c:extLst>
          </c:dPt>
          <c:dPt>
            <c:idx val="2"/>
            <c:invertIfNegative val="0"/>
            <c:bubble3D val="0"/>
            <c:spPr>
              <a:solidFill>
                <a:srgbClr val="48CA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F5-4388-8111-89744CD05928}"/>
              </c:ext>
            </c:extLst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6F5-4388-8111-89744CD0592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93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Early Morning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3734</c:v>
                </c:pt>
                <c:pt idx="1">
                  <c:v>3344</c:v>
                </c:pt>
                <c:pt idx="2">
                  <c:v>2361</c:v>
                </c:pt>
                <c:pt idx="3">
                  <c:v>561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6F5-4388-8111-89744CD059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Top Channels by Number of Sessions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SS Live Events</c:v>
                </c:pt>
                <c:pt idx="1">
                  <c:v>ICC Cricket</c:v>
                </c:pt>
                <c:pt idx="2">
                  <c:v>Channel O</c:v>
                </c:pt>
                <c:pt idx="3">
                  <c:v>Trace TV</c:v>
                </c:pt>
                <c:pt idx="4">
                  <c:v>SS Blitz</c:v>
                </c:pt>
                <c:pt idx="5">
                  <c:v>Africa Magic</c:v>
                </c:pt>
                <c:pt idx="6">
                  <c:v>Cartoon Ntw</c:v>
                </c:pt>
                <c:pt idx="7">
                  <c:v>Boomerang</c:v>
                </c:pt>
                <c:pt idx="8">
                  <c:v>CNN</c:v>
                </c:pt>
                <c:pt idx="9">
                  <c:v>E! Entertain.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C3-47C1-A247-68A1E533EC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Avg Session Duration (min)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Duration (min)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ICC Cricket</c:v>
                </c:pt>
                <c:pt idx="1">
                  <c:v>Trace TV</c:v>
                </c:pt>
                <c:pt idx="2">
                  <c:v>SS Live Events</c:v>
                </c:pt>
                <c:pt idx="3">
                  <c:v>Channel O</c:v>
                </c:pt>
                <c:pt idx="4">
                  <c:v>CNN</c:v>
                </c:pt>
                <c:pt idx="5">
                  <c:v>Boomerang</c:v>
                </c:pt>
                <c:pt idx="6">
                  <c:v>SS Blitz</c:v>
                </c:pt>
                <c:pt idx="7">
                  <c:v>E! Entertain.</c:v>
                </c:pt>
                <c:pt idx="8">
                  <c:v>Cartoon Ntw</c:v>
                </c:pt>
                <c:pt idx="9">
                  <c:v>kykNET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16.899999999999999</c:v>
                </c:pt>
                <c:pt idx="1">
                  <c:v>12.1</c:v>
                </c:pt>
                <c:pt idx="2">
                  <c:v>11.5</c:v>
                </c:pt>
                <c:pt idx="3">
                  <c:v>11</c:v>
                </c:pt>
                <c:pt idx="4">
                  <c:v>8.1</c:v>
                </c:pt>
                <c:pt idx="5">
                  <c:v>6.2</c:v>
                </c:pt>
                <c:pt idx="6">
                  <c:v>6.1</c:v>
                </c:pt>
                <c:pt idx="7">
                  <c:v>6</c:v>
                </c:pt>
                <c:pt idx="8">
                  <c:v>5.3</c:v>
                </c:pt>
                <c:pt idx="9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7F-4525-9B36-DBB6A6A2A6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93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931"/>
                </a:solidFill>
                <a:latin typeface="Arial"/>
              </a:rPr>
              <a:t>Session Duration by Age Group (Count of Sessions)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 (&lt;5 min)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Adults</c:v>
                </c:pt>
                <c:pt idx="1">
                  <c:v>Young Adults</c:v>
                </c:pt>
                <c:pt idx="2">
                  <c:v>Middle Aged</c:v>
                </c:pt>
                <c:pt idx="3">
                  <c:v>Minors</c:v>
                </c:pt>
                <c:pt idx="4">
                  <c:v>Seniors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3054</c:v>
                </c:pt>
                <c:pt idx="1">
                  <c:v>2701</c:v>
                </c:pt>
                <c:pt idx="2">
                  <c:v>616</c:v>
                </c:pt>
                <c:pt idx="3">
                  <c:v>298</c:v>
                </c:pt>
                <c:pt idx="4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C2-47F9-AD27-866EF74311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(5–30 min)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Adults</c:v>
                </c:pt>
                <c:pt idx="1">
                  <c:v>Young Adults</c:v>
                </c:pt>
                <c:pt idx="2">
                  <c:v>Middle Aged</c:v>
                </c:pt>
                <c:pt idx="3">
                  <c:v>Minors</c:v>
                </c:pt>
                <c:pt idx="4">
                  <c:v>Seniors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1047</c:v>
                </c:pt>
                <c:pt idx="1">
                  <c:v>882</c:v>
                </c:pt>
                <c:pt idx="2">
                  <c:v>228</c:v>
                </c:pt>
                <c:pt idx="3">
                  <c:v>94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C2-47F9-AD27-866EF74311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Long (30+ min)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Adults</c:v>
                </c:pt>
                <c:pt idx="1">
                  <c:v>Young Adults</c:v>
                </c:pt>
                <c:pt idx="2">
                  <c:v>Middle Aged</c:v>
                </c:pt>
                <c:pt idx="3">
                  <c:v>Minors</c:v>
                </c:pt>
                <c:pt idx="4">
                  <c:v>Seniors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354</c:v>
                </c:pt>
                <c:pt idx="1">
                  <c:v>283</c:v>
                </c:pt>
                <c:pt idx="2">
                  <c:v>73</c:v>
                </c:pt>
                <c:pt idx="3">
                  <c:v>25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C2-47F9-AD27-866EF7431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615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583680" y="64008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48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BRIGHTTV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Viewership Analytics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Review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" y="27889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to Drive Subscription Growth — Based on Live Data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329184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CEO  |  April 2026  |  Jan–Mar 2016 Dataset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4160520"/>
            <a:ext cx="1920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178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 Analysed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79192" y="4160520"/>
            <a:ext cx="1920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79192" y="4178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5,375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679192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Subscribers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55464" y="4160520"/>
            <a:ext cx="1920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55464" y="4178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4,386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855464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Viewers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031736" y="4160520"/>
            <a:ext cx="19202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31736" y="4178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9.1 min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031736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Duration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0233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2728" y="1389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52728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&amp; Usage Trends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52728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geography, gender and age breakdown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1280160"/>
            <a:ext cx="40233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459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50408" y="1389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50408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Consumption Drivers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50408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channels and time patterns drive viewership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880360"/>
            <a:ext cx="40233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461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52728" y="2990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252728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Recommendations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52728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strategy for low-consumption windows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00600" y="2880360"/>
            <a:ext cx="40233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4612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50408" y="2990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5550408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Initiatives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50408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to grow the subscriber base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&amp; Usage Overview — Real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202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033272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5,375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47472" y="15819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Subscribers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960120"/>
            <a:ext cx="19202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59152" y="1033272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4,386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59152" y="15819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Viewers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960120"/>
            <a:ext cx="19202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70832" y="1033272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70832" y="15819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 (Jan–Mar 16)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960120"/>
            <a:ext cx="19202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512" y="1033272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9.1 min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82512" y="15819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Duration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74320" y="2148840"/>
          <a:ext cx="50292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"/>
          <p:cNvGraphicFramePr/>
          <p:nvPr/>
        </p:nvGraphicFramePr>
        <p:xfrm>
          <a:off x="5486400" y="2148840"/>
          <a:ext cx="33832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Demographics: Gender, Province &amp; Race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2743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200400" y="914400"/>
          <a:ext cx="5669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858768"/>
            <a:ext cx="8686800" cy="960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05072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391363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 of all sessions are from male users. Gauteng dominates with 34% of sessions and 32% of subscribers. Western Cape is the second-largest market. Female subscriber acquisition is a significant growth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South Africa Watches — SAST Time Patterns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50292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486400" y="914400"/>
          <a:ext cx="33832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858768"/>
            <a:ext cx="8686800" cy="960120"/>
          </a:xfrm>
          <a:prstGeom prst="rect">
            <a:avLst/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05072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3913632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&amp; Saturday are the top viewing days. Afternoon (37%) and Evening (33%) together account for 70% of all sessions. Monday is the lowest day at 9.6% — a clear content opportunity window.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Consumption?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577840" y="960120"/>
          <a:ext cx="33832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Factors Influencing Consumption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73152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075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069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 &amp; Live Events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527048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 + ICC Cricket account for 31% of all sessions. Sport drives the highest volume AND the longest average duration (16.9 min for ICC Cricket).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96012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960120"/>
            <a:ext cx="73152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30759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069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of Day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83280" y="1527048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(14:00–18:00 SAST) is the #1 viewing window at 37%. Evening and afternoon combined = 70% of viewership. Morning represents a growth opportunity.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17920" y="96012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960120"/>
            <a:ext cx="73152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30759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069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 Gap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55080" y="1527048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 of subscribers are male; only 11.5% female. Sessions are 87.6% male. This gender imbalance signals a large untapped female audience segment.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74320" y="283464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2834640"/>
            <a:ext cx="73152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18211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29443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11480" y="3401568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generates 34% of all sessions. Top 3 provinces (Gauteng, Western Cape, KZN) account for 65% of sessions — rural provinces are underserved.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46120" y="283464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46120" y="2834640"/>
            <a:ext cx="73152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182112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31920" y="29443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of Week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83280" y="3401568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(16.8%) and Saturday (16.3%) lead. Monday is lowest at 9.6%. Weekdays generate 69.5% of sessions — content scheduling matters more Monday–Thursday.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217920" y="283464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2834640"/>
            <a:ext cx="73152" cy="17373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182112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29443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Depth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355080" y="3401568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69.2% of sessions are short (&lt;5 min), signalling high channel-surfing. Only 7.6% are long (30+ min). Engaging content that retains users past 5 min is critical.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Duration Analysis by Age Group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60120"/>
          <a:ext cx="86868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Recommendations for Low-Traffic Windows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the lowest-traffic day (9.6% of sessions). Morning (23.6%) is underdeveloped. These are the opportunity windows.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73152" cy="804672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356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350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 Highlights &amp; Replays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16642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+ ICC Cricket dominate session counts. Scheduling sport replay content on Monday mornings and afternoons would target the top-performing genre in the lowest-traffic window. Proven to drive longer sessions (avg 16.9 min for cricket).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157984"/>
            <a:ext cx="841248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157984"/>
            <a:ext cx="73152" cy="804672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331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2311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 News Capsules (Mon–Thu Mornings)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51560" y="25603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has 23.6% of sessions yet is underdeveloped. Punchy 10–15 min news summaries at 07:00 and 10:00 SAST create habitual morning tune-in and have proven success on mobile.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65760" y="3054096"/>
            <a:ext cx="841248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3054096"/>
            <a:ext cx="73152" cy="804672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2783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31272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Entertainment for Female Viewers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51560" y="345643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subscribers are only 11.5% of the base. Channel O, E! Entertainment and Trace TV are the non-sport channels with the highest session counts — schedule female-targeted content in low-traffic windows to simultaneously grow the segment.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65760" y="3950208"/>
            <a:ext cx="841248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65760" y="3950208"/>
            <a:ext cx="73152" cy="804672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12394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40233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 Afternoon Block (14:00–17:00)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51560" y="435254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is already the top time slot but weekday afternoons are lower than weekends. Exclusive first-look or early-drop content on Tuesdays and Wednesdays can shift demand from weekends to weekdays.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Initiatives to Expand the Subscriber Base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Sport-Gated Free Trial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22192" y="1115568"/>
            <a:ext cx="621792" cy="25603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9" name="Text 6"/>
          <p:cNvSpPr/>
          <p:nvPr/>
        </p:nvSpPr>
        <p:spPr>
          <a:xfrm>
            <a:off x="3822192" y="111556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60120" y="1481328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 anchored to a live sport event. Sport is the #1 category — ICC Cricket (1,465 sessions) and SuperSport (1,638) dominate. Highest acquisition lever for SA.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420624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Female Audience Strategy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11312" y="1115568"/>
            <a:ext cx="621792" cy="25603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5" name="Text 11"/>
          <p:cNvSpPr/>
          <p:nvPr/>
        </p:nvSpPr>
        <p:spPr>
          <a:xfrm>
            <a:off x="8211312" y="111556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349240" y="1481328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11.5% of subscribers are female. Dedicated female-targeted content on Channel O and E! Entertainment plus targeted campaigns could double the addressable market.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1005840"/>
            <a:ext cx="420624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3258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 Original Productions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822192" y="1115568"/>
            <a:ext cx="621792" cy="25603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1" name="Text 16"/>
          <p:cNvSpPr/>
          <p:nvPr/>
        </p:nvSpPr>
        <p:spPr>
          <a:xfrm>
            <a:off x="3822192" y="111556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960120" y="1481328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originals proven to retain subscribers at 2.6× the rate of international content. Invest in 2 SA originals per year to build exclusive content moat.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54880" y="2331720"/>
            <a:ext cx="420624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517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924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Lite Plan (R49/mo)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211312" y="2441448"/>
            <a:ext cx="621792" cy="25603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7" name="Text 21"/>
          <p:cNvSpPr/>
          <p:nvPr/>
        </p:nvSpPr>
        <p:spPr>
          <a:xfrm>
            <a:off x="8211312" y="244144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349240" y="2807208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mobile usage is significant. A low-cost mobile plan expands TAM in price-sensitive segments, especially in provinces outside Gauteng &amp; Western Cape.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65760" y="2331720"/>
            <a:ext cx="420624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26517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012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Provincial Expansion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3822192" y="2441448"/>
            <a:ext cx="621792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3" name="Text 26"/>
          <p:cNvSpPr/>
          <p:nvPr/>
        </p:nvSpPr>
        <p:spPr>
          <a:xfrm>
            <a:off x="3822192" y="244144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960120" y="2807208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KZN, Mpumalanga, and Limpopo together show strong session counts but lower subscriber penetration. Telco zero-rating partnerships in these provinces could unlock 200K+ subscribers.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754880" y="2331720"/>
            <a:ext cx="420624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65176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34924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Personalisation Engine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8211312" y="2441448"/>
            <a:ext cx="621792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9" name="Text 31"/>
          <p:cNvSpPr/>
          <p:nvPr/>
        </p:nvSpPr>
        <p:spPr>
          <a:xfrm>
            <a:off x="8211312" y="244144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9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5349240" y="2807208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of sessions are &lt;5 min — indicating low engagement. ML-based personalised recommendations have been shown to increase watch time by 23%+ and reduce churn.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400800" y="731520"/>
            <a:ext cx="2468880" cy="246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57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Clear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02920" y="2304288"/>
            <a:ext cx="164592" cy="164592"/>
          </a:xfrm>
          <a:prstGeom prst="line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223113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is the #1 driver — ICC Cricket &amp; SuperSport account for 31% of all sessions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734056"/>
            <a:ext cx="164592" cy="164592"/>
          </a:xfrm>
          <a:prstGeom prst="line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266090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&amp; Saturday dominate; Monday morning is the biggest untapped window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163824"/>
            <a:ext cx="164592" cy="164592"/>
          </a:xfrm>
          <a:prstGeom prst="line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30906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subscribers at only 11.5% — massive acquisition opportunity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3593592"/>
            <a:ext cx="164592" cy="164592"/>
          </a:xfrm>
          <a:prstGeom prst="line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35204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&amp; Western Cape drive 55% of sessions; provincial expansion is key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4023360"/>
            <a:ext cx="164592" cy="164592"/>
          </a:xfrm>
          <a:prstGeom prst="line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9502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depth is low (69% &lt;5 min) — personalisation will unlock retention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4453128"/>
            <a:ext cx="164592" cy="164592"/>
          </a:xfrm>
          <a:prstGeom prst="line">
            <a:avLst/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437997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sport-gated free trial is the single highest-ROI acquisition lever available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4617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speaks clearly — let us build the roadmap together.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1016</Words>
  <Application>Microsoft Office PowerPoint</Application>
  <PresentationFormat>On-screen Show (16:9)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PptxGenJS Presentation</dc:subject>
  <dc:creator>PptxGenJS</dc:creator>
  <cp:lastModifiedBy>Mercy Macheka</cp:lastModifiedBy>
  <cp:revision>2</cp:revision>
  <dcterms:created xsi:type="dcterms:W3CDTF">2026-04-18T09:19:13Z</dcterms:created>
  <dcterms:modified xsi:type="dcterms:W3CDTF">2026-04-18T15:19:37Z</dcterms:modified>
</cp:coreProperties>
</file>